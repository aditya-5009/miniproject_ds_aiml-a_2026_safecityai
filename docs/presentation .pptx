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C1121F"/>
        </a:solidFill>
      </p:bgPr>
    </p:bg>
    <p:spTree>
      <p:nvGrpSpPr>
        <p:cNvPr id="1" name=""/>
        <p:cNvGrpSpPr/>
        <p:nvPr/>
      </p:nvGrpSpPr>
      <p:grpSpPr>
        <a:xfrm>
          <a:off x="0" y="0"/>
          <a:ext cx="0" cy="0"/>
          <a:chOff x="0" y="0"/>
          <a:chExt cx="0" cy="0"/>
        </a:xfrm>
      </p:grpSpPr>
      <p:sp>
        <p:nvSpPr>
          <p:cNvPr id="2" name="Text 0"/>
          <p:cNvSpPr/>
          <p:nvPr/>
        </p:nvSpPr>
        <p:spPr>
          <a:xfrm>
            <a:off x="548640" y="1188720"/>
            <a:ext cx="8046720" cy="1280160"/>
          </a:xfrm>
          <a:prstGeom prst="rect">
            <a:avLst/>
          </a:prstGeom>
          <a:noFill/>
          <a:ln/>
        </p:spPr>
        <p:txBody>
          <a:bodyPr wrap="square"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SafeCity AI</a:t>
            </a:r>
            <a:endParaRPr lang="en-US" sz="5400" dirty="0"/>
          </a:p>
        </p:txBody>
      </p:sp>
      <p:sp>
        <p:nvSpPr>
          <p:cNvPr id="3" name="Text 1"/>
          <p:cNvSpPr/>
          <p:nvPr/>
        </p:nvSpPr>
        <p:spPr>
          <a:xfrm>
            <a:off x="548640" y="2560320"/>
            <a:ext cx="8046720" cy="640080"/>
          </a:xfrm>
          <a:prstGeom prst="rect">
            <a:avLst/>
          </a:prstGeom>
          <a:noFill/>
          <a:ln/>
        </p:spPr>
        <p:txBody>
          <a:bodyPr wrap="square" rtlCol="0" anchor="ctr"/>
          <a:lstStyle/>
          <a:p>
            <a:pPr indent="0" marL="0">
              <a:buNone/>
            </a:pPr>
            <a:r>
              <a:rPr lang="en-US" sz="1800" i="1" dirty="0">
                <a:solidFill>
                  <a:srgbClr val="FFFFFF"/>
                </a:solidFill>
                <a:latin typeface="Calibri" pitchFamily="34" charset="0"/>
                <a:ea typeface="Calibri" pitchFamily="34" charset="-122"/>
                <a:cs typeface="Calibri" pitchFamily="34" charset="-120"/>
              </a:rPr>
              <a:t>Crime Prediction and Hotspot Detection Using Data Science</a:t>
            </a:r>
            <a:endParaRPr lang="en-US" sz="1800" dirty="0"/>
          </a:p>
        </p:txBody>
      </p:sp>
      <p:sp>
        <p:nvSpPr>
          <p:cNvPr id="4" name="Shape 2"/>
          <p:cNvSpPr/>
          <p:nvPr/>
        </p:nvSpPr>
        <p:spPr>
          <a:xfrm>
            <a:off x="548640" y="3337560"/>
            <a:ext cx="8046720" cy="36576"/>
          </a:xfrm>
          <a:prstGeom prst="rect">
            <a:avLst/>
          </a:prstGeom>
          <a:solidFill>
            <a:srgbClr val="FFFFFF"/>
          </a:solidFill>
          <a:ln w="12700">
            <a:solidFill>
              <a:srgbClr val="FFFFFF"/>
            </a:solidFill>
            <a:prstDash val="solid"/>
          </a:ln>
        </p:spPr>
      </p:sp>
      <p:sp>
        <p:nvSpPr>
          <p:cNvPr id="5" name="Text 3"/>
          <p:cNvSpPr/>
          <p:nvPr/>
        </p:nvSpPr>
        <p:spPr>
          <a:xfrm>
            <a:off x="548640" y="3520440"/>
            <a:ext cx="8046720" cy="41148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Aditya Menon  &amp;  Santosh Kumar D</a:t>
            </a:r>
            <a:endParaRPr lang="en-US" sz="1400" dirty="0"/>
          </a:p>
        </p:txBody>
      </p:sp>
      <p:sp>
        <p:nvSpPr>
          <p:cNvPr id="6" name="Text 4"/>
          <p:cNvSpPr/>
          <p:nvPr/>
        </p:nvSpPr>
        <p:spPr>
          <a:xfrm>
            <a:off x="548640" y="3931920"/>
            <a:ext cx="8046720" cy="36576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SRM Institute of Science and Technology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C1121F"/>
          </a:solidFill>
          <a:ln w="12700">
            <a:solidFill>
              <a:srgbClr val="C1121F"/>
            </a:solidFill>
            <a:prstDash val="solid"/>
          </a:ln>
        </p:spPr>
      </p:sp>
      <p:sp>
        <p:nvSpPr>
          <p:cNvPr id="3" name="Text 1"/>
          <p:cNvSpPr/>
          <p:nvPr/>
        </p:nvSpPr>
        <p:spPr>
          <a:xfrm>
            <a:off x="365760" y="91440"/>
            <a:ext cx="82296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About the Project</a:t>
            </a:r>
            <a:endParaRPr lang="en-US" sz="2200" dirty="0"/>
          </a:p>
        </p:txBody>
      </p:sp>
      <p:sp>
        <p:nvSpPr>
          <p:cNvPr id="4" name="Text 2"/>
          <p:cNvSpPr/>
          <p:nvPr/>
        </p:nvSpPr>
        <p:spPr>
          <a:xfrm>
            <a:off x="457200" y="914400"/>
            <a:ext cx="8229600" cy="457200"/>
          </a:xfrm>
          <a:prstGeom prst="rect">
            <a:avLst/>
          </a:prstGeom>
          <a:noFill/>
          <a:ln/>
        </p:spPr>
        <p:txBody>
          <a:bodyPr wrap="square" rtlCol="0" anchor="ctr"/>
          <a:lstStyle/>
          <a:p>
            <a:pPr indent="0" marL="0">
              <a:buNone/>
            </a:pPr>
            <a:r>
              <a:rPr lang="en-US" sz="1600" b="1" dirty="0">
                <a:solidFill>
                  <a:srgbClr val="C1121F"/>
                </a:solidFill>
                <a:latin typeface="Calibri" pitchFamily="34" charset="0"/>
                <a:ea typeface="Calibri" pitchFamily="34" charset="-122"/>
                <a:cs typeface="Calibri" pitchFamily="34" charset="-120"/>
              </a:rPr>
              <a:t>What is SafeCity AI?</a:t>
            </a:r>
            <a:endParaRPr lang="en-US" sz="1600" dirty="0"/>
          </a:p>
        </p:txBody>
      </p:sp>
      <p:sp>
        <p:nvSpPr>
          <p:cNvPr id="5" name="Text 3"/>
          <p:cNvSpPr/>
          <p:nvPr/>
        </p:nvSpPr>
        <p:spPr>
          <a:xfrm>
            <a:off x="457200" y="1417320"/>
            <a:ext cx="8229600" cy="91440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SafeCity AI is a data science project we built to analyze crime patterns across India. We used real crime data from 2014 to 2022 to find which areas have high crime rates and predict how many crimes might happen in a given location in the future.</a:t>
            </a:r>
            <a:endParaRPr lang="en-US" sz="1300" dirty="0"/>
          </a:p>
        </p:txBody>
      </p:sp>
      <p:sp>
        <p:nvSpPr>
          <p:cNvPr id="6" name="Text 4"/>
          <p:cNvSpPr/>
          <p:nvPr/>
        </p:nvSpPr>
        <p:spPr>
          <a:xfrm>
            <a:off x="457200" y="2468880"/>
            <a:ext cx="8229600" cy="457200"/>
          </a:xfrm>
          <a:prstGeom prst="rect">
            <a:avLst/>
          </a:prstGeom>
          <a:noFill/>
          <a:ln/>
        </p:spPr>
        <p:txBody>
          <a:bodyPr wrap="square" rtlCol="0" anchor="ctr"/>
          <a:lstStyle/>
          <a:p>
            <a:pPr indent="0" marL="0">
              <a:buNone/>
            </a:pPr>
            <a:r>
              <a:rPr lang="en-US" sz="1600" b="1" dirty="0">
                <a:solidFill>
                  <a:srgbClr val="C1121F"/>
                </a:solidFill>
                <a:latin typeface="Calibri" pitchFamily="34" charset="0"/>
                <a:ea typeface="Calibri" pitchFamily="34" charset="-122"/>
                <a:cs typeface="Calibri" pitchFamily="34" charset="-120"/>
              </a:rPr>
              <a:t>Why did we pick this topic?</a:t>
            </a:r>
            <a:endParaRPr lang="en-US" sz="1600" dirty="0"/>
          </a:p>
        </p:txBody>
      </p:sp>
      <p:sp>
        <p:nvSpPr>
          <p:cNvPr id="7" name="Text 5"/>
          <p:cNvSpPr/>
          <p:nvPr/>
        </p:nvSpPr>
        <p:spPr>
          <a:xfrm>
            <a:off x="457200" y="2971800"/>
            <a:ext cx="8229600" cy="82296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Crime is a real problem and police departments often don't have good tools to predict where crimes will happen. We wanted to build something useful that could actually help — not just a random dataset project.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C1121F"/>
          </a:solidFill>
          <a:ln w="12700">
            <a:solidFill>
              <a:srgbClr val="C1121F"/>
            </a:solidFill>
            <a:prstDash val="solid"/>
          </a:ln>
        </p:spPr>
      </p:sp>
      <p:sp>
        <p:nvSpPr>
          <p:cNvPr id="3" name="Text 1"/>
          <p:cNvSpPr/>
          <p:nvPr/>
        </p:nvSpPr>
        <p:spPr>
          <a:xfrm>
            <a:off x="365760" y="91440"/>
            <a:ext cx="82296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Problem Statement</a:t>
            </a:r>
            <a:endParaRPr lang="en-US" sz="2200" dirty="0"/>
          </a:p>
        </p:txBody>
      </p:sp>
      <p:sp>
        <p:nvSpPr>
          <p:cNvPr id="4" name="Text 2"/>
          <p:cNvSpPr/>
          <p:nvPr/>
        </p:nvSpPr>
        <p:spPr>
          <a:xfrm>
            <a:off x="457200" y="1005840"/>
            <a:ext cx="8229600" cy="3200400"/>
          </a:xfrm>
          <a:prstGeom prst="rect">
            <a:avLst/>
          </a:prstGeom>
          <a:noFill/>
          <a:ln/>
        </p:spPr>
        <p:txBody>
          <a:bodyPr wrap="square" rtlCol="0" anchor="ctr"/>
          <a:lstStyle/>
          <a:p>
            <a:pPr marL="342900" indent="-342900">
              <a:spcAft>
                <a:spcPts val="1400"/>
              </a:spcAft>
              <a:buSzPct val="100000"/>
              <a:buChar char="•"/>
            </a:pPr>
            <a:r>
              <a:rPr lang="en-US" sz="1400" dirty="0">
                <a:solidFill>
                  <a:srgbClr val="1A1A1A"/>
                </a:solidFill>
                <a:latin typeface="Calibri" pitchFamily="34" charset="0"/>
                <a:ea typeface="Calibri" pitchFamily="34" charset="-122"/>
                <a:cs typeface="Calibri" pitchFamily="34" charset="-120"/>
              </a:rPr>
              <a:t>Police rely on old, manual methods to analyze crime — which is slow and inaccurate.</a:t>
            </a:r>
            <a:endParaRPr lang="en-US" sz="1400" dirty="0"/>
          </a:p>
          <a:p>
            <a:pPr marL="342900" indent="-342900">
              <a:spcAft>
                <a:spcPts val="1400"/>
              </a:spcAft>
              <a:buSzPct val="100000"/>
              <a:buChar char="•"/>
            </a:pPr>
            <a:r>
              <a:rPr lang="en-US" sz="1400" dirty="0">
                <a:solidFill>
                  <a:srgbClr val="1A1A1A"/>
                </a:solidFill>
                <a:latin typeface="Calibri" pitchFamily="34" charset="0"/>
                <a:ea typeface="Calibri" pitchFamily="34" charset="-122"/>
                <a:cs typeface="Calibri" pitchFamily="34" charset="-120"/>
              </a:rPr>
              <a:t>There is no system to predict future crimes or identify high-risk areas in advance.</a:t>
            </a:r>
            <a:endParaRPr lang="en-US" sz="1400" dirty="0"/>
          </a:p>
          <a:p>
            <a:pPr marL="342900" indent="-342900">
              <a:spcAft>
                <a:spcPts val="1400"/>
              </a:spcAft>
              <a:buSzPct val="100000"/>
              <a:buChar char="•"/>
            </a:pPr>
            <a:r>
              <a:rPr lang="en-US" sz="1400" dirty="0">
                <a:solidFill>
                  <a:srgbClr val="1A1A1A"/>
                </a:solidFill>
                <a:latin typeface="Calibri" pitchFamily="34" charset="0"/>
                <a:ea typeface="Calibri" pitchFamily="34" charset="-122"/>
                <a:cs typeface="Calibri" pitchFamily="34" charset="-120"/>
              </a:rPr>
              <a:t>Large volumes of crime data go unused because there is no proper tool to process them.</a:t>
            </a:r>
            <a:endParaRPr lang="en-US" sz="1400" dirty="0"/>
          </a:p>
          <a:p>
            <a:pPr marL="342900" indent="-342900">
              <a:spcAft>
                <a:spcPts val="1400"/>
              </a:spcAft>
              <a:buSzPct val="100000"/>
              <a:buChar char="•"/>
            </a:pPr>
            <a:r>
              <a:rPr lang="en-US" sz="1400" dirty="0">
                <a:solidFill>
                  <a:srgbClr val="1A1A1A"/>
                </a:solidFill>
                <a:latin typeface="Calibri" pitchFamily="34" charset="0"/>
                <a:ea typeface="Calibri" pitchFamily="34" charset="-122"/>
                <a:cs typeface="Calibri" pitchFamily="34" charset="-120"/>
              </a:rPr>
              <a:t>Without hotspot detection, it is hard to allocate police resources to the right areas.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C1121F"/>
          </a:solidFill>
          <a:ln w="12700">
            <a:solidFill>
              <a:srgbClr val="C1121F"/>
            </a:solidFill>
            <a:prstDash val="solid"/>
          </a:ln>
        </p:spPr>
      </p:sp>
      <p:sp>
        <p:nvSpPr>
          <p:cNvPr id="3" name="Text 1"/>
          <p:cNvSpPr/>
          <p:nvPr/>
        </p:nvSpPr>
        <p:spPr>
          <a:xfrm>
            <a:off x="365760" y="91440"/>
            <a:ext cx="82296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Dataset</a:t>
            </a:r>
            <a:endParaRPr lang="en-US" sz="2200" dirty="0"/>
          </a:p>
        </p:txBody>
      </p:sp>
      <p:sp>
        <p:nvSpPr>
          <p:cNvPr id="4" name="Text 2"/>
          <p:cNvSpPr/>
          <p:nvPr/>
        </p:nvSpPr>
        <p:spPr>
          <a:xfrm>
            <a:off x="457200" y="914400"/>
            <a:ext cx="8229600" cy="502920"/>
          </a:xfrm>
          <a:prstGeom prst="rect">
            <a:avLst/>
          </a:prstGeom>
          <a:noFill/>
          <a:ln/>
        </p:spPr>
        <p:txBody>
          <a:bodyPr wrap="square" rtlCol="0" anchor="ctr"/>
          <a:lstStyle/>
          <a:p>
            <a:pPr indent="0" marL="0">
              <a:buNone/>
            </a:pPr>
            <a:r>
              <a:rPr lang="en-US" sz="1800" b="1" dirty="0">
                <a:solidFill>
                  <a:srgbClr val="C1121F"/>
                </a:solidFill>
                <a:latin typeface="Calibri" pitchFamily="34" charset="0"/>
                <a:ea typeface="Calibri" pitchFamily="34" charset="-122"/>
                <a:cs typeface="Calibri" pitchFamily="34" charset="-120"/>
              </a:rPr>
              <a:t>Indian Crime Dataset — 2014 to 2022</a:t>
            </a:r>
            <a:endParaRPr lang="en-US" sz="1800" dirty="0"/>
          </a:p>
        </p:txBody>
      </p:sp>
      <p:sp>
        <p:nvSpPr>
          <p:cNvPr id="5" name="Text 3"/>
          <p:cNvSpPr/>
          <p:nvPr/>
        </p:nvSpPr>
        <p:spPr>
          <a:xfrm>
            <a:off x="457200" y="1508760"/>
            <a:ext cx="8229600" cy="82296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The dataset has crime records from different states and districts of India. It includes details like crime type, location, and year. We used this to understand crime trends and build our prediction model.</a:t>
            </a:r>
            <a:endParaRPr lang="en-US" sz="1300" dirty="0"/>
          </a:p>
        </p:txBody>
      </p:sp>
      <p:sp>
        <p:nvSpPr>
          <p:cNvPr id="6" name="Shape 4"/>
          <p:cNvSpPr/>
          <p:nvPr/>
        </p:nvSpPr>
        <p:spPr>
          <a:xfrm>
            <a:off x="457200" y="2560320"/>
            <a:ext cx="2560320" cy="1645920"/>
          </a:xfrm>
          <a:prstGeom prst="rect">
            <a:avLst/>
          </a:prstGeom>
          <a:solidFill>
            <a:srgbClr val="F7F7F7"/>
          </a:solidFill>
          <a:ln w="12700">
            <a:solidFill>
              <a:srgbClr val="DDDDDD"/>
            </a:solidFill>
            <a:prstDash val="solid"/>
          </a:ln>
        </p:spPr>
      </p:sp>
      <p:sp>
        <p:nvSpPr>
          <p:cNvPr id="7" name="Text 5"/>
          <p:cNvSpPr/>
          <p:nvPr/>
        </p:nvSpPr>
        <p:spPr>
          <a:xfrm>
            <a:off x="457200" y="2697480"/>
            <a:ext cx="2560320" cy="731520"/>
          </a:xfrm>
          <a:prstGeom prst="rect">
            <a:avLst/>
          </a:prstGeom>
          <a:noFill/>
          <a:ln/>
        </p:spPr>
        <p:txBody>
          <a:bodyPr wrap="square" rtlCol="0" anchor="ctr"/>
          <a:lstStyle/>
          <a:p>
            <a:pPr algn="ctr" indent="0" marL="0">
              <a:buNone/>
            </a:pPr>
            <a:r>
              <a:rPr lang="en-US" sz="3600" b="1" dirty="0">
                <a:solidFill>
                  <a:srgbClr val="C1121F"/>
                </a:solidFill>
                <a:latin typeface="Calibri" pitchFamily="34" charset="0"/>
                <a:ea typeface="Calibri" pitchFamily="34" charset="-122"/>
                <a:cs typeface="Calibri" pitchFamily="34" charset="-120"/>
              </a:rPr>
              <a:t>9</a:t>
            </a:r>
            <a:endParaRPr lang="en-US" sz="3600" dirty="0"/>
          </a:p>
        </p:txBody>
      </p:sp>
      <p:sp>
        <p:nvSpPr>
          <p:cNvPr id="8" name="Text 6"/>
          <p:cNvSpPr/>
          <p:nvPr/>
        </p:nvSpPr>
        <p:spPr>
          <a:xfrm>
            <a:off x="457200" y="3429000"/>
            <a:ext cx="2560320" cy="640080"/>
          </a:xfrm>
          <a:prstGeom prst="rect">
            <a:avLst/>
          </a:prstGeom>
          <a:noFill/>
          <a:ln/>
        </p:spPr>
        <p:txBody>
          <a:bodyPr wrap="square" rtlCol="0" anchor="ctr"/>
          <a:lstStyle/>
          <a:p>
            <a:pPr algn="ctr" indent="0" marL="0">
              <a:buNone/>
            </a:pPr>
            <a:r>
              <a:rPr lang="en-US" sz="1200" dirty="0">
                <a:solidFill>
                  <a:srgbClr val="555555"/>
                </a:solidFill>
                <a:latin typeface="Calibri" pitchFamily="34" charset="0"/>
                <a:ea typeface="Calibri" pitchFamily="34" charset="-122"/>
                <a:cs typeface="Calibri" pitchFamily="34" charset="-120"/>
              </a:rPr>
              <a:t>Years of data</a:t>
            </a:r>
            <a:endParaRPr lang="en-US" sz="1200" dirty="0"/>
          </a:p>
          <a:p>
            <a:pPr algn="ctr" indent="0" marL="0">
              <a:buNone/>
            </a:pPr>
            <a:r>
              <a:rPr lang="en-US" sz="1200" dirty="0">
                <a:solidFill>
                  <a:srgbClr val="555555"/>
                </a:solidFill>
                <a:latin typeface="Calibri" pitchFamily="34" charset="0"/>
                <a:ea typeface="Calibri" pitchFamily="34" charset="-122"/>
                <a:cs typeface="Calibri" pitchFamily="34" charset="-120"/>
              </a:rPr>
              <a:t>(2014–2022)</a:t>
            </a:r>
            <a:endParaRPr lang="en-US" sz="1200" dirty="0"/>
          </a:p>
        </p:txBody>
      </p:sp>
      <p:sp>
        <p:nvSpPr>
          <p:cNvPr id="9" name="Shape 7"/>
          <p:cNvSpPr/>
          <p:nvPr/>
        </p:nvSpPr>
        <p:spPr>
          <a:xfrm>
            <a:off x="3291840" y="2560320"/>
            <a:ext cx="2560320" cy="1645920"/>
          </a:xfrm>
          <a:prstGeom prst="rect">
            <a:avLst/>
          </a:prstGeom>
          <a:solidFill>
            <a:srgbClr val="F7F7F7"/>
          </a:solidFill>
          <a:ln w="12700">
            <a:solidFill>
              <a:srgbClr val="DDDDDD"/>
            </a:solidFill>
            <a:prstDash val="solid"/>
          </a:ln>
        </p:spPr>
      </p:sp>
      <p:sp>
        <p:nvSpPr>
          <p:cNvPr id="10" name="Text 8"/>
          <p:cNvSpPr/>
          <p:nvPr/>
        </p:nvSpPr>
        <p:spPr>
          <a:xfrm>
            <a:off x="3291840" y="2697480"/>
            <a:ext cx="2560320" cy="731520"/>
          </a:xfrm>
          <a:prstGeom prst="rect">
            <a:avLst/>
          </a:prstGeom>
          <a:noFill/>
          <a:ln/>
        </p:spPr>
        <p:txBody>
          <a:bodyPr wrap="square" rtlCol="0" anchor="ctr"/>
          <a:lstStyle/>
          <a:p>
            <a:pPr algn="ctr" indent="0" marL="0">
              <a:buNone/>
            </a:pPr>
            <a:r>
              <a:rPr lang="en-US" sz="3600" b="1" dirty="0">
                <a:solidFill>
                  <a:srgbClr val="C1121F"/>
                </a:solidFill>
                <a:latin typeface="Calibri" pitchFamily="34" charset="0"/>
                <a:ea typeface="Calibri" pitchFamily="34" charset="-122"/>
                <a:cs typeface="Calibri" pitchFamily="34" charset="-120"/>
              </a:rPr>
              <a:t>28+</a:t>
            </a:r>
            <a:endParaRPr lang="en-US" sz="3600" dirty="0"/>
          </a:p>
        </p:txBody>
      </p:sp>
      <p:sp>
        <p:nvSpPr>
          <p:cNvPr id="11" name="Text 9"/>
          <p:cNvSpPr/>
          <p:nvPr/>
        </p:nvSpPr>
        <p:spPr>
          <a:xfrm>
            <a:off x="3291840" y="3429000"/>
            <a:ext cx="2560320" cy="640080"/>
          </a:xfrm>
          <a:prstGeom prst="rect">
            <a:avLst/>
          </a:prstGeom>
          <a:noFill/>
          <a:ln/>
        </p:spPr>
        <p:txBody>
          <a:bodyPr wrap="square" rtlCol="0" anchor="ctr"/>
          <a:lstStyle/>
          <a:p>
            <a:pPr algn="ctr" indent="0" marL="0">
              <a:buNone/>
            </a:pPr>
            <a:r>
              <a:rPr lang="en-US" sz="1200" dirty="0">
                <a:solidFill>
                  <a:srgbClr val="555555"/>
                </a:solidFill>
                <a:latin typeface="Calibri" pitchFamily="34" charset="0"/>
                <a:ea typeface="Calibri" pitchFamily="34" charset="-122"/>
                <a:cs typeface="Calibri" pitchFamily="34" charset="-120"/>
              </a:rPr>
              <a:t>States</a:t>
            </a:r>
            <a:endParaRPr lang="en-US" sz="1200" dirty="0"/>
          </a:p>
          <a:p>
            <a:pPr algn="ctr" indent="0" marL="0">
              <a:buNone/>
            </a:pPr>
            <a:r>
              <a:rPr lang="en-US" sz="1200" dirty="0">
                <a:solidFill>
                  <a:srgbClr val="555555"/>
                </a:solidFill>
                <a:latin typeface="Calibri" pitchFamily="34" charset="0"/>
                <a:ea typeface="Calibri" pitchFamily="34" charset="-122"/>
                <a:cs typeface="Calibri" pitchFamily="34" charset="-120"/>
              </a:rPr>
              <a:t>covered</a:t>
            </a:r>
            <a:endParaRPr lang="en-US" sz="1200" dirty="0"/>
          </a:p>
        </p:txBody>
      </p:sp>
      <p:sp>
        <p:nvSpPr>
          <p:cNvPr id="12" name="Shape 10"/>
          <p:cNvSpPr/>
          <p:nvPr/>
        </p:nvSpPr>
        <p:spPr>
          <a:xfrm>
            <a:off x="6126480" y="2560320"/>
            <a:ext cx="2560320" cy="1645920"/>
          </a:xfrm>
          <a:prstGeom prst="rect">
            <a:avLst/>
          </a:prstGeom>
          <a:solidFill>
            <a:srgbClr val="F7F7F7"/>
          </a:solidFill>
          <a:ln w="12700">
            <a:solidFill>
              <a:srgbClr val="DDDDDD"/>
            </a:solidFill>
            <a:prstDash val="solid"/>
          </a:ln>
        </p:spPr>
      </p:sp>
      <p:sp>
        <p:nvSpPr>
          <p:cNvPr id="13" name="Text 11"/>
          <p:cNvSpPr/>
          <p:nvPr/>
        </p:nvSpPr>
        <p:spPr>
          <a:xfrm>
            <a:off x="6126480" y="2697480"/>
            <a:ext cx="2560320" cy="731520"/>
          </a:xfrm>
          <a:prstGeom prst="rect">
            <a:avLst/>
          </a:prstGeom>
          <a:noFill/>
          <a:ln/>
        </p:spPr>
        <p:txBody>
          <a:bodyPr wrap="square" rtlCol="0" anchor="ctr"/>
          <a:lstStyle/>
          <a:p>
            <a:pPr algn="ctr" indent="0" marL="0">
              <a:buNone/>
            </a:pPr>
            <a:r>
              <a:rPr lang="en-US" sz="3600" b="1" dirty="0">
                <a:solidFill>
                  <a:srgbClr val="C1121F"/>
                </a:solidFill>
                <a:latin typeface="Calibri" pitchFamily="34" charset="0"/>
                <a:ea typeface="Calibri" pitchFamily="34" charset="-122"/>
                <a:cs typeface="Calibri" pitchFamily="34" charset="-120"/>
              </a:rPr>
              <a:t>7</a:t>
            </a:r>
            <a:endParaRPr lang="en-US" sz="3600" dirty="0"/>
          </a:p>
        </p:txBody>
      </p:sp>
      <p:sp>
        <p:nvSpPr>
          <p:cNvPr id="14" name="Text 12"/>
          <p:cNvSpPr/>
          <p:nvPr/>
        </p:nvSpPr>
        <p:spPr>
          <a:xfrm>
            <a:off x="6126480" y="3429000"/>
            <a:ext cx="2560320" cy="640080"/>
          </a:xfrm>
          <a:prstGeom prst="rect">
            <a:avLst/>
          </a:prstGeom>
          <a:noFill/>
          <a:ln/>
        </p:spPr>
        <p:txBody>
          <a:bodyPr wrap="square" rtlCol="0" anchor="ctr"/>
          <a:lstStyle/>
          <a:p>
            <a:pPr algn="ctr" indent="0" marL="0">
              <a:buNone/>
            </a:pPr>
            <a:r>
              <a:rPr lang="en-US" sz="1200" dirty="0">
                <a:solidFill>
                  <a:srgbClr val="555555"/>
                </a:solidFill>
                <a:latin typeface="Calibri" pitchFamily="34" charset="0"/>
                <a:ea typeface="Calibri" pitchFamily="34" charset="-122"/>
                <a:cs typeface="Calibri" pitchFamily="34" charset="-120"/>
              </a:rPr>
              <a:t>Crime</a:t>
            </a:r>
            <a:endParaRPr lang="en-US" sz="1200" dirty="0"/>
          </a:p>
          <a:p>
            <a:pPr algn="ctr" indent="0" marL="0">
              <a:buNone/>
            </a:pPr>
            <a:r>
              <a:rPr lang="en-US" sz="1200" dirty="0">
                <a:solidFill>
                  <a:srgbClr val="555555"/>
                </a:solidFill>
                <a:latin typeface="Calibri" pitchFamily="34" charset="0"/>
                <a:ea typeface="Calibri" pitchFamily="34" charset="-122"/>
                <a:cs typeface="Calibri" pitchFamily="34" charset="-120"/>
              </a:rPr>
              <a:t>categories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C1121F"/>
          </a:solidFill>
          <a:ln w="12700">
            <a:solidFill>
              <a:srgbClr val="C1121F"/>
            </a:solidFill>
            <a:prstDash val="solid"/>
          </a:ln>
        </p:spPr>
      </p:sp>
      <p:sp>
        <p:nvSpPr>
          <p:cNvPr id="3" name="Text 1"/>
          <p:cNvSpPr/>
          <p:nvPr/>
        </p:nvSpPr>
        <p:spPr>
          <a:xfrm>
            <a:off x="365760" y="91440"/>
            <a:ext cx="82296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How We Built It</a:t>
            </a:r>
            <a:endParaRPr lang="en-US" sz="2200" dirty="0"/>
          </a:p>
        </p:txBody>
      </p:sp>
      <p:sp>
        <p:nvSpPr>
          <p:cNvPr id="4" name="Shape 2"/>
          <p:cNvSpPr/>
          <p:nvPr/>
        </p:nvSpPr>
        <p:spPr>
          <a:xfrm>
            <a:off x="365760" y="941832"/>
            <a:ext cx="502920" cy="502920"/>
          </a:xfrm>
          <a:prstGeom prst="ellipse">
            <a:avLst/>
          </a:prstGeom>
          <a:solidFill>
            <a:srgbClr val="C1121F"/>
          </a:solidFill>
          <a:ln w="12700">
            <a:solidFill>
              <a:srgbClr val="C1121F"/>
            </a:solidFill>
            <a:prstDash val="solid"/>
          </a:ln>
        </p:spPr>
      </p:sp>
      <p:sp>
        <p:nvSpPr>
          <p:cNvPr id="5" name="Text 3"/>
          <p:cNvSpPr/>
          <p:nvPr/>
        </p:nvSpPr>
        <p:spPr>
          <a:xfrm>
            <a:off x="365760" y="941832"/>
            <a:ext cx="502920" cy="5029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051560" y="868680"/>
            <a:ext cx="3200400" cy="365760"/>
          </a:xfrm>
          <a:prstGeom prst="rect">
            <a:avLst/>
          </a:prstGeom>
          <a:noFill/>
          <a:ln/>
        </p:spPr>
        <p:txBody>
          <a:bodyPr wrap="square"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Data Collection</a:t>
            </a:r>
            <a:endParaRPr lang="en-US" sz="1400" dirty="0"/>
          </a:p>
        </p:txBody>
      </p:sp>
      <p:sp>
        <p:nvSpPr>
          <p:cNvPr id="7" name="Text 5"/>
          <p:cNvSpPr/>
          <p:nvPr/>
        </p:nvSpPr>
        <p:spPr>
          <a:xfrm>
            <a:off x="1051560" y="1252728"/>
            <a:ext cx="7589520" cy="320040"/>
          </a:xfrm>
          <a:prstGeom prst="rect">
            <a:avLst/>
          </a:prstGeom>
          <a:noFill/>
          <a:ln/>
        </p:spPr>
        <p:txBody>
          <a:bodyPr wrap="square" rtlCol="0" anchor="ctr"/>
          <a:lstStyle/>
          <a:p>
            <a:pPr indent="0" marL="0">
              <a:buNone/>
            </a:pPr>
            <a:r>
              <a:rPr lang="en-US" sz="1200" dirty="0">
                <a:solidFill>
                  <a:srgbClr val="555555"/>
                </a:solidFill>
                <a:latin typeface="Calibri" pitchFamily="34" charset="0"/>
                <a:ea typeface="Calibri" pitchFamily="34" charset="-122"/>
                <a:cs typeface="Calibri" pitchFamily="34" charset="-120"/>
              </a:rPr>
              <a:t>Indian Crime Dataset 2014–2022</a:t>
            </a:r>
            <a:endParaRPr lang="en-US" sz="1200" dirty="0"/>
          </a:p>
        </p:txBody>
      </p:sp>
      <p:sp>
        <p:nvSpPr>
          <p:cNvPr id="8" name="Shape 6"/>
          <p:cNvSpPr/>
          <p:nvPr/>
        </p:nvSpPr>
        <p:spPr>
          <a:xfrm>
            <a:off x="365760" y="1746504"/>
            <a:ext cx="502920" cy="502920"/>
          </a:xfrm>
          <a:prstGeom prst="ellipse">
            <a:avLst/>
          </a:prstGeom>
          <a:solidFill>
            <a:srgbClr val="C1121F"/>
          </a:solidFill>
          <a:ln w="12700">
            <a:solidFill>
              <a:srgbClr val="C1121F"/>
            </a:solidFill>
            <a:prstDash val="solid"/>
          </a:ln>
        </p:spPr>
      </p:sp>
      <p:sp>
        <p:nvSpPr>
          <p:cNvPr id="9" name="Text 7"/>
          <p:cNvSpPr/>
          <p:nvPr/>
        </p:nvSpPr>
        <p:spPr>
          <a:xfrm>
            <a:off x="365760" y="1746504"/>
            <a:ext cx="502920" cy="5029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p:nvPr/>
        </p:nvSpPr>
        <p:spPr>
          <a:xfrm>
            <a:off x="1051560" y="1673352"/>
            <a:ext cx="3200400" cy="365760"/>
          </a:xfrm>
          <a:prstGeom prst="rect">
            <a:avLst/>
          </a:prstGeom>
          <a:noFill/>
          <a:ln/>
        </p:spPr>
        <p:txBody>
          <a:bodyPr wrap="square"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Data Cleaning</a:t>
            </a:r>
            <a:endParaRPr lang="en-US" sz="1400" dirty="0"/>
          </a:p>
        </p:txBody>
      </p:sp>
      <p:sp>
        <p:nvSpPr>
          <p:cNvPr id="11" name="Text 9"/>
          <p:cNvSpPr/>
          <p:nvPr/>
        </p:nvSpPr>
        <p:spPr>
          <a:xfrm>
            <a:off x="1051560" y="2057400"/>
            <a:ext cx="7589520" cy="320040"/>
          </a:xfrm>
          <a:prstGeom prst="rect">
            <a:avLst/>
          </a:prstGeom>
          <a:noFill/>
          <a:ln/>
        </p:spPr>
        <p:txBody>
          <a:bodyPr wrap="square" rtlCol="0" anchor="ctr"/>
          <a:lstStyle/>
          <a:p>
            <a:pPr indent="0" marL="0">
              <a:buNone/>
            </a:pPr>
            <a:r>
              <a:rPr lang="en-US" sz="1200" dirty="0">
                <a:solidFill>
                  <a:srgbClr val="555555"/>
                </a:solidFill>
                <a:latin typeface="Calibri" pitchFamily="34" charset="0"/>
                <a:ea typeface="Calibri" pitchFamily="34" charset="-122"/>
                <a:cs typeface="Calibri" pitchFamily="34" charset="-120"/>
              </a:rPr>
              <a:t>Removed missing values, fixed inconsistencies</a:t>
            </a:r>
            <a:endParaRPr lang="en-US" sz="1200" dirty="0"/>
          </a:p>
        </p:txBody>
      </p:sp>
      <p:sp>
        <p:nvSpPr>
          <p:cNvPr id="12" name="Shape 10"/>
          <p:cNvSpPr/>
          <p:nvPr/>
        </p:nvSpPr>
        <p:spPr>
          <a:xfrm>
            <a:off x="365760" y="2551176"/>
            <a:ext cx="502920" cy="502920"/>
          </a:xfrm>
          <a:prstGeom prst="ellipse">
            <a:avLst/>
          </a:prstGeom>
          <a:solidFill>
            <a:srgbClr val="C1121F"/>
          </a:solidFill>
          <a:ln w="12700">
            <a:solidFill>
              <a:srgbClr val="C1121F"/>
            </a:solidFill>
            <a:prstDash val="solid"/>
          </a:ln>
        </p:spPr>
      </p:sp>
      <p:sp>
        <p:nvSpPr>
          <p:cNvPr id="13" name="Text 11"/>
          <p:cNvSpPr/>
          <p:nvPr/>
        </p:nvSpPr>
        <p:spPr>
          <a:xfrm>
            <a:off x="365760" y="2551176"/>
            <a:ext cx="502920" cy="5029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051560" y="2478024"/>
            <a:ext cx="3200400" cy="365760"/>
          </a:xfrm>
          <a:prstGeom prst="rect">
            <a:avLst/>
          </a:prstGeom>
          <a:noFill/>
          <a:ln/>
        </p:spPr>
        <p:txBody>
          <a:bodyPr wrap="square"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Visualization</a:t>
            </a:r>
            <a:endParaRPr lang="en-US" sz="1400" dirty="0"/>
          </a:p>
        </p:txBody>
      </p:sp>
      <p:sp>
        <p:nvSpPr>
          <p:cNvPr id="15" name="Text 13"/>
          <p:cNvSpPr/>
          <p:nvPr/>
        </p:nvSpPr>
        <p:spPr>
          <a:xfrm>
            <a:off x="1051560" y="2862072"/>
            <a:ext cx="7589520" cy="320040"/>
          </a:xfrm>
          <a:prstGeom prst="rect">
            <a:avLst/>
          </a:prstGeom>
          <a:noFill/>
          <a:ln/>
        </p:spPr>
        <p:txBody>
          <a:bodyPr wrap="square" rtlCol="0" anchor="ctr"/>
          <a:lstStyle/>
          <a:p>
            <a:pPr indent="0" marL="0">
              <a:buNone/>
            </a:pPr>
            <a:r>
              <a:rPr lang="en-US" sz="1200" dirty="0">
                <a:solidFill>
                  <a:srgbClr val="555555"/>
                </a:solidFill>
                <a:latin typeface="Calibri" pitchFamily="34" charset="0"/>
                <a:ea typeface="Calibri" pitchFamily="34" charset="-122"/>
                <a:cs typeface="Calibri" pitchFamily="34" charset="-120"/>
              </a:rPr>
              <a:t>Bar charts, heatmaps, trend graphs</a:t>
            </a:r>
            <a:endParaRPr lang="en-US" sz="1200" dirty="0"/>
          </a:p>
        </p:txBody>
      </p:sp>
      <p:sp>
        <p:nvSpPr>
          <p:cNvPr id="16" name="Shape 14"/>
          <p:cNvSpPr/>
          <p:nvPr/>
        </p:nvSpPr>
        <p:spPr>
          <a:xfrm>
            <a:off x="365760" y="3355848"/>
            <a:ext cx="502920" cy="502920"/>
          </a:xfrm>
          <a:prstGeom prst="ellipse">
            <a:avLst/>
          </a:prstGeom>
          <a:solidFill>
            <a:srgbClr val="C1121F"/>
          </a:solidFill>
          <a:ln w="12700">
            <a:solidFill>
              <a:srgbClr val="C1121F"/>
            </a:solidFill>
            <a:prstDash val="solid"/>
          </a:ln>
        </p:spPr>
      </p:sp>
      <p:sp>
        <p:nvSpPr>
          <p:cNvPr id="17" name="Text 15"/>
          <p:cNvSpPr/>
          <p:nvPr/>
        </p:nvSpPr>
        <p:spPr>
          <a:xfrm>
            <a:off x="365760" y="3355848"/>
            <a:ext cx="502920" cy="5029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p:nvPr/>
        </p:nvSpPr>
        <p:spPr>
          <a:xfrm>
            <a:off x="1051560" y="3282696"/>
            <a:ext cx="3200400" cy="365760"/>
          </a:xfrm>
          <a:prstGeom prst="rect">
            <a:avLst/>
          </a:prstGeom>
          <a:noFill/>
          <a:ln/>
        </p:spPr>
        <p:txBody>
          <a:bodyPr wrap="square"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Model Training</a:t>
            </a:r>
            <a:endParaRPr lang="en-US" sz="1400" dirty="0"/>
          </a:p>
        </p:txBody>
      </p:sp>
      <p:sp>
        <p:nvSpPr>
          <p:cNvPr id="19" name="Text 17"/>
          <p:cNvSpPr/>
          <p:nvPr/>
        </p:nvSpPr>
        <p:spPr>
          <a:xfrm>
            <a:off x="1051560" y="3666744"/>
            <a:ext cx="7589520" cy="320040"/>
          </a:xfrm>
          <a:prstGeom prst="rect">
            <a:avLst/>
          </a:prstGeom>
          <a:noFill/>
          <a:ln/>
        </p:spPr>
        <p:txBody>
          <a:bodyPr wrap="square" rtlCol="0" anchor="ctr"/>
          <a:lstStyle/>
          <a:p>
            <a:pPr indent="0" marL="0">
              <a:buNone/>
            </a:pPr>
            <a:r>
              <a:rPr lang="en-US" sz="1200" dirty="0">
                <a:solidFill>
                  <a:srgbClr val="555555"/>
                </a:solidFill>
                <a:latin typeface="Calibri" pitchFamily="34" charset="0"/>
                <a:ea typeface="Calibri" pitchFamily="34" charset="-122"/>
                <a:cs typeface="Calibri" pitchFamily="34" charset="-120"/>
              </a:rPr>
              <a:t>K-Means Clustering + Random Forest</a:t>
            </a:r>
            <a:endParaRPr lang="en-US" sz="1200" dirty="0"/>
          </a:p>
        </p:txBody>
      </p:sp>
      <p:sp>
        <p:nvSpPr>
          <p:cNvPr id="20" name="Shape 18"/>
          <p:cNvSpPr/>
          <p:nvPr/>
        </p:nvSpPr>
        <p:spPr>
          <a:xfrm>
            <a:off x="365760" y="4160520"/>
            <a:ext cx="502920" cy="502920"/>
          </a:xfrm>
          <a:prstGeom prst="ellipse">
            <a:avLst/>
          </a:prstGeom>
          <a:solidFill>
            <a:srgbClr val="C1121F"/>
          </a:solidFill>
          <a:ln w="12700">
            <a:solidFill>
              <a:srgbClr val="C1121F"/>
            </a:solidFill>
            <a:prstDash val="solid"/>
          </a:ln>
        </p:spPr>
      </p:sp>
      <p:sp>
        <p:nvSpPr>
          <p:cNvPr id="21" name="Text 19"/>
          <p:cNvSpPr/>
          <p:nvPr/>
        </p:nvSpPr>
        <p:spPr>
          <a:xfrm>
            <a:off x="365760" y="4160520"/>
            <a:ext cx="502920" cy="5029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2" name="Text 20"/>
          <p:cNvSpPr/>
          <p:nvPr/>
        </p:nvSpPr>
        <p:spPr>
          <a:xfrm>
            <a:off x="1051560" y="4087368"/>
            <a:ext cx="3200400" cy="365760"/>
          </a:xfrm>
          <a:prstGeom prst="rect">
            <a:avLst/>
          </a:prstGeom>
          <a:noFill/>
          <a:ln/>
        </p:spPr>
        <p:txBody>
          <a:bodyPr wrap="square"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Evaluation</a:t>
            </a:r>
            <a:endParaRPr lang="en-US" sz="1400" dirty="0"/>
          </a:p>
        </p:txBody>
      </p:sp>
      <p:sp>
        <p:nvSpPr>
          <p:cNvPr id="23" name="Text 21"/>
          <p:cNvSpPr/>
          <p:nvPr/>
        </p:nvSpPr>
        <p:spPr>
          <a:xfrm>
            <a:off x="1051560" y="4471416"/>
            <a:ext cx="7589520" cy="320040"/>
          </a:xfrm>
          <a:prstGeom prst="rect">
            <a:avLst/>
          </a:prstGeom>
          <a:noFill/>
          <a:ln/>
        </p:spPr>
        <p:txBody>
          <a:bodyPr wrap="square" rtlCol="0" anchor="ctr"/>
          <a:lstStyle/>
          <a:p>
            <a:pPr indent="0" marL="0">
              <a:buNone/>
            </a:pPr>
            <a:r>
              <a:rPr lang="en-US" sz="1200" dirty="0">
                <a:solidFill>
                  <a:srgbClr val="555555"/>
                </a:solidFill>
                <a:latin typeface="Calibri" pitchFamily="34" charset="0"/>
                <a:ea typeface="Calibri" pitchFamily="34" charset="-122"/>
                <a:cs typeface="Calibri" pitchFamily="34" charset="-120"/>
              </a:rPr>
              <a:t>Tested accuracy using R² score and RMSE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C1121F"/>
          </a:solidFill>
          <a:ln w="12700">
            <a:solidFill>
              <a:srgbClr val="C1121F"/>
            </a:solidFill>
            <a:prstDash val="solid"/>
          </a:ln>
        </p:spPr>
      </p:sp>
      <p:sp>
        <p:nvSpPr>
          <p:cNvPr id="3" name="Text 1"/>
          <p:cNvSpPr/>
          <p:nvPr/>
        </p:nvSpPr>
        <p:spPr>
          <a:xfrm>
            <a:off x="365760" y="91440"/>
            <a:ext cx="82296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Machine Learning Models</a:t>
            </a:r>
            <a:endParaRPr lang="en-US" sz="2200" dirty="0"/>
          </a:p>
        </p:txBody>
      </p:sp>
      <p:sp>
        <p:nvSpPr>
          <p:cNvPr id="4" name="Shape 2"/>
          <p:cNvSpPr/>
          <p:nvPr/>
        </p:nvSpPr>
        <p:spPr>
          <a:xfrm>
            <a:off x="365760" y="914400"/>
            <a:ext cx="3840480" cy="3566160"/>
          </a:xfrm>
          <a:prstGeom prst="rect">
            <a:avLst/>
          </a:prstGeom>
          <a:solidFill>
            <a:srgbClr val="F7F7F7"/>
          </a:solidFill>
          <a:ln w="12700">
            <a:solidFill>
              <a:srgbClr val="DDDDDD"/>
            </a:solidFill>
            <a:prstDash val="solid"/>
          </a:ln>
        </p:spPr>
      </p:sp>
      <p:sp>
        <p:nvSpPr>
          <p:cNvPr id="5" name="Shape 3"/>
          <p:cNvSpPr/>
          <p:nvPr/>
        </p:nvSpPr>
        <p:spPr>
          <a:xfrm>
            <a:off x="365760" y="914400"/>
            <a:ext cx="3840480" cy="54864"/>
          </a:xfrm>
          <a:prstGeom prst="rect">
            <a:avLst/>
          </a:prstGeom>
          <a:solidFill>
            <a:srgbClr val="C1121F"/>
          </a:solidFill>
          <a:ln w="12700">
            <a:solidFill>
              <a:srgbClr val="C1121F"/>
            </a:solidFill>
            <a:prstDash val="solid"/>
          </a:ln>
        </p:spPr>
      </p:sp>
      <p:sp>
        <p:nvSpPr>
          <p:cNvPr id="6" name="Text 4"/>
          <p:cNvSpPr/>
          <p:nvPr/>
        </p:nvSpPr>
        <p:spPr>
          <a:xfrm>
            <a:off x="548640" y="1005840"/>
            <a:ext cx="3474720" cy="457200"/>
          </a:xfrm>
          <a:prstGeom prst="rect">
            <a:avLst/>
          </a:prstGeom>
          <a:noFill/>
          <a:ln/>
        </p:spPr>
        <p:txBody>
          <a:bodyPr wrap="square" rtlCol="0" anchor="ctr"/>
          <a:lstStyle/>
          <a:p>
            <a:pPr indent="0" marL="0">
              <a:buNone/>
            </a:pPr>
            <a:r>
              <a:rPr lang="en-US" sz="1500" b="1" dirty="0">
                <a:solidFill>
                  <a:srgbClr val="C1121F"/>
                </a:solidFill>
                <a:latin typeface="Calibri" pitchFamily="34" charset="0"/>
                <a:ea typeface="Calibri" pitchFamily="34" charset="-122"/>
                <a:cs typeface="Calibri" pitchFamily="34" charset="-120"/>
              </a:rPr>
              <a:t>K-Means Clustering</a:t>
            </a:r>
            <a:endParaRPr lang="en-US" sz="1500" dirty="0"/>
          </a:p>
        </p:txBody>
      </p:sp>
      <p:sp>
        <p:nvSpPr>
          <p:cNvPr id="7" name="Text 5"/>
          <p:cNvSpPr/>
          <p:nvPr/>
        </p:nvSpPr>
        <p:spPr>
          <a:xfrm>
            <a:off x="548640" y="1508760"/>
            <a:ext cx="3474720" cy="73152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Used to detect crime hotspots. Groups districts by crime frequency and labels them:</a:t>
            </a:r>
            <a:endParaRPr lang="en-US" sz="1200" dirty="0"/>
          </a:p>
        </p:txBody>
      </p:sp>
      <p:sp>
        <p:nvSpPr>
          <p:cNvPr id="8" name="Text 6"/>
          <p:cNvSpPr/>
          <p:nvPr/>
        </p:nvSpPr>
        <p:spPr>
          <a:xfrm>
            <a:off x="548640" y="2286000"/>
            <a:ext cx="3474720" cy="1371600"/>
          </a:xfrm>
          <a:prstGeom prst="rect">
            <a:avLst/>
          </a:prstGeom>
          <a:noFill/>
          <a:ln/>
        </p:spPr>
        <p:txBody>
          <a:bodyPr wrap="square" rtlCol="0" anchor="ctr"/>
          <a:lstStyle/>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Low Risk</a:t>
            </a:r>
            <a:endParaRPr lang="en-US" sz="1300" dirty="0"/>
          </a:p>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Medium Risk</a:t>
            </a:r>
            <a:endParaRPr lang="en-US" sz="1300" dirty="0"/>
          </a:p>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High Risk</a:t>
            </a:r>
            <a:endParaRPr lang="en-US" sz="1300" dirty="0"/>
          </a:p>
        </p:txBody>
      </p:sp>
      <p:sp>
        <p:nvSpPr>
          <p:cNvPr id="9" name="Shape 7"/>
          <p:cNvSpPr/>
          <p:nvPr/>
        </p:nvSpPr>
        <p:spPr>
          <a:xfrm>
            <a:off x="4937760" y="914400"/>
            <a:ext cx="3840480" cy="3566160"/>
          </a:xfrm>
          <a:prstGeom prst="rect">
            <a:avLst/>
          </a:prstGeom>
          <a:solidFill>
            <a:srgbClr val="F7F7F7"/>
          </a:solidFill>
          <a:ln w="12700">
            <a:solidFill>
              <a:srgbClr val="DDDDDD"/>
            </a:solidFill>
            <a:prstDash val="solid"/>
          </a:ln>
        </p:spPr>
      </p:sp>
      <p:sp>
        <p:nvSpPr>
          <p:cNvPr id="10" name="Shape 8"/>
          <p:cNvSpPr/>
          <p:nvPr/>
        </p:nvSpPr>
        <p:spPr>
          <a:xfrm>
            <a:off x="4937760" y="914400"/>
            <a:ext cx="3840480" cy="54864"/>
          </a:xfrm>
          <a:prstGeom prst="rect">
            <a:avLst/>
          </a:prstGeom>
          <a:solidFill>
            <a:srgbClr val="C1121F"/>
          </a:solidFill>
          <a:ln w="12700">
            <a:solidFill>
              <a:srgbClr val="C1121F"/>
            </a:solidFill>
            <a:prstDash val="solid"/>
          </a:ln>
        </p:spPr>
      </p:sp>
      <p:sp>
        <p:nvSpPr>
          <p:cNvPr id="11" name="Text 9"/>
          <p:cNvSpPr/>
          <p:nvPr/>
        </p:nvSpPr>
        <p:spPr>
          <a:xfrm>
            <a:off x="5120640" y="1005840"/>
            <a:ext cx="3474720" cy="457200"/>
          </a:xfrm>
          <a:prstGeom prst="rect">
            <a:avLst/>
          </a:prstGeom>
          <a:noFill/>
          <a:ln/>
        </p:spPr>
        <p:txBody>
          <a:bodyPr wrap="square" rtlCol="0" anchor="ctr"/>
          <a:lstStyle/>
          <a:p>
            <a:pPr indent="0" marL="0">
              <a:buNone/>
            </a:pPr>
            <a:r>
              <a:rPr lang="en-US" sz="1500" b="1" dirty="0">
                <a:solidFill>
                  <a:srgbClr val="C1121F"/>
                </a:solidFill>
                <a:latin typeface="Calibri" pitchFamily="34" charset="0"/>
                <a:ea typeface="Calibri" pitchFamily="34" charset="-122"/>
                <a:cs typeface="Calibri" pitchFamily="34" charset="-120"/>
              </a:rPr>
              <a:t>Random Forest</a:t>
            </a:r>
            <a:endParaRPr lang="en-US" sz="1500" dirty="0"/>
          </a:p>
        </p:txBody>
      </p:sp>
      <p:sp>
        <p:nvSpPr>
          <p:cNvPr id="12" name="Text 10"/>
          <p:cNvSpPr/>
          <p:nvPr/>
        </p:nvSpPr>
        <p:spPr>
          <a:xfrm>
            <a:off x="5120640" y="1508760"/>
            <a:ext cx="3474720" cy="73152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Used to predict future crime counts. You enter a State, District, and Year and it predicts:</a:t>
            </a:r>
            <a:endParaRPr lang="en-US" sz="1200" dirty="0"/>
          </a:p>
        </p:txBody>
      </p:sp>
      <p:sp>
        <p:nvSpPr>
          <p:cNvPr id="13" name="Text 11"/>
          <p:cNvSpPr/>
          <p:nvPr/>
        </p:nvSpPr>
        <p:spPr>
          <a:xfrm>
            <a:off x="5120640" y="2286000"/>
            <a:ext cx="3474720" cy="1371600"/>
          </a:xfrm>
          <a:prstGeom prst="rect">
            <a:avLst/>
          </a:prstGeom>
          <a:noFill/>
          <a:ln/>
        </p:spPr>
        <p:txBody>
          <a:bodyPr wrap="square" rtlCol="0" anchor="ctr"/>
          <a:lstStyle/>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Murder, Rape, Kidnapping</a:t>
            </a:r>
            <a:endParaRPr lang="en-US" sz="1300" dirty="0"/>
          </a:p>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Theft, Dowry Deaths</a:t>
            </a:r>
            <a:endParaRPr lang="en-US" sz="1300" dirty="0"/>
          </a:p>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Other Crimes &amp; Total Count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C1121F"/>
          </a:solidFill>
          <a:ln w="12700">
            <a:solidFill>
              <a:srgbClr val="C1121F"/>
            </a:solidFill>
            <a:prstDash val="solid"/>
          </a:ln>
        </p:spPr>
      </p:sp>
      <p:sp>
        <p:nvSpPr>
          <p:cNvPr id="3" name="Text 1"/>
          <p:cNvSpPr/>
          <p:nvPr/>
        </p:nvSpPr>
        <p:spPr>
          <a:xfrm>
            <a:off x="365760" y="91440"/>
            <a:ext cx="82296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Results</a:t>
            </a:r>
            <a:endParaRPr lang="en-US" sz="2200" dirty="0"/>
          </a:p>
        </p:txBody>
      </p:sp>
      <p:sp>
        <p:nvSpPr>
          <p:cNvPr id="4" name="Text 2"/>
          <p:cNvSpPr/>
          <p:nvPr/>
        </p:nvSpPr>
        <p:spPr>
          <a:xfrm>
            <a:off x="457200" y="914400"/>
            <a:ext cx="3657600" cy="1097280"/>
          </a:xfrm>
          <a:prstGeom prst="rect">
            <a:avLst/>
          </a:prstGeom>
          <a:noFill/>
          <a:ln/>
        </p:spPr>
        <p:txBody>
          <a:bodyPr wrap="square" rtlCol="0" anchor="ctr"/>
          <a:lstStyle/>
          <a:p>
            <a:pPr indent="0" marL="0">
              <a:buNone/>
            </a:pPr>
            <a:r>
              <a:rPr lang="en-US" sz="5200" b="1" dirty="0">
                <a:solidFill>
                  <a:srgbClr val="C1121F"/>
                </a:solidFill>
                <a:latin typeface="Calibri" pitchFamily="34" charset="0"/>
                <a:ea typeface="Calibri" pitchFamily="34" charset="-122"/>
                <a:cs typeface="Calibri" pitchFamily="34" charset="-120"/>
              </a:rPr>
              <a:t>88.89%</a:t>
            </a:r>
            <a:endParaRPr lang="en-US" sz="5200" dirty="0"/>
          </a:p>
        </p:txBody>
      </p:sp>
      <p:sp>
        <p:nvSpPr>
          <p:cNvPr id="5" name="Text 3"/>
          <p:cNvSpPr/>
          <p:nvPr/>
        </p:nvSpPr>
        <p:spPr>
          <a:xfrm>
            <a:off x="457200" y="1920240"/>
            <a:ext cx="3657600" cy="822960"/>
          </a:xfrm>
          <a:prstGeom prst="rect">
            <a:avLst/>
          </a:prstGeom>
          <a:noFill/>
          <a:ln/>
        </p:spPr>
        <p:txBody>
          <a:bodyPr wrap="square" rtlCol="0" anchor="ctr"/>
          <a:lstStyle/>
          <a:p>
            <a:pPr indent="0" marL="0">
              <a:buNone/>
            </a:pPr>
            <a:r>
              <a:rPr lang="en-US" sz="1200" dirty="0">
                <a:solidFill>
                  <a:srgbClr val="555555"/>
                </a:solidFill>
                <a:latin typeface="Calibri" pitchFamily="34" charset="0"/>
                <a:ea typeface="Calibri" pitchFamily="34" charset="-122"/>
                <a:cs typeface="Calibri" pitchFamily="34" charset="-120"/>
              </a:rPr>
              <a:t>R² Score — our Random Forest model was accurate 88.89% of the time when tested on unseen data.</a:t>
            </a:r>
            <a:endParaRPr lang="en-US" sz="1200" dirty="0"/>
          </a:p>
        </p:txBody>
      </p:sp>
      <p:sp>
        <p:nvSpPr>
          <p:cNvPr id="6" name="Text 4"/>
          <p:cNvSpPr/>
          <p:nvPr/>
        </p:nvSpPr>
        <p:spPr>
          <a:xfrm>
            <a:off x="5029200" y="914400"/>
            <a:ext cx="3657600" cy="1097280"/>
          </a:xfrm>
          <a:prstGeom prst="rect">
            <a:avLst/>
          </a:prstGeom>
          <a:noFill/>
          <a:ln/>
        </p:spPr>
        <p:txBody>
          <a:bodyPr wrap="square" rtlCol="0" anchor="ctr"/>
          <a:lstStyle/>
          <a:p>
            <a:pPr indent="0" marL="0">
              <a:buNone/>
            </a:pPr>
            <a:r>
              <a:rPr lang="en-US" sz="5200" b="1" dirty="0">
                <a:solidFill>
                  <a:srgbClr val="1A1A1A"/>
                </a:solidFill>
                <a:latin typeface="Calibri" pitchFamily="34" charset="0"/>
                <a:ea typeface="Calibri" pitchFamily="34" charset="-122"/>
                <a:cs typeface="Calibri" pitchFamily="34" charset="-120"/>
              </a:rPr>
              <a:t>2801.97</a:t>
            </a:r>
            <a:endParaRPr lang="en-US" sz="5200" dirty="0"/>
          </a:p>
        </p:txBody>
      </p:sp>
      <p:sp>
        <p:nvSpPr>
          <p:cNvPr id="7" name="Text 5"/>
          <p:cNvSpPr/>
          <p:nvPr/>
        </p:nvSpPr>
        <p:spPr>
          <a:xfrm>
            <a:off x="5029200" y="1920240"/>
            <a:ext cx="3657600" cy="822960"/>
          </a:xfrm>
          <a:prstGeom prst="rect">
            <a:avLst/>
          </a:prstGeom>
          <a:noFill/>
          <a:ln/>
        </p:spPr>
        <p:txBody>
          <a:bodyPr wrap="square" rtlCol="0" anchor="ctr"/>
          <a:lstStyle/>
          <a:p>
            <a:pPr indent="0" marL="0">
              <a:buNone/>
            </a:pPr>
            <a:r>
              <a:rPr lang="en-US" sz="1200" dirty="0">
                <a:solidFill>
                  <a:srgbClr val="555555"/>
                </a:solidFill>
                <a:latin typeface="Calibri" pitchFamily="34" charset="0"/>
                <a:ea typeface="Calibri" pitchFamily="34" charset="-122"/>
                <a:cs typeface="Calibri" pitchFamily="34" charset="-120"/>
              </a:rPr>
              <a:t>RMSE — average error in predictions. Given the large crime counts in the dataset, this is acceptable.</a:t>
            </a:r>
            <a:endParaRPr lang="en-US" sz="1200" dirty="0"/>
          </a:p>
        </p:txBody>
      </p:sp>
      <p:sp>
        <p:nvSpPr>
          <p:cNvPr id="8" name="Shape 6"/>
          <p:cNvSpPr/>
          <p:nvPr/>
        </p:nvSpPr>
        <p:spPr>
          <a:xfrm>
            <a:off x="457200" y="2926080"/>
            <a:ext cx="8229600" cy="36576"/>
          </a:xfrm>
          <a:prstGeom prst="rect">
            <a:avLst/>
          </a:prstGeom>
          <a:solidFill>
            <a:srgbClr val="DDDDDD"/>
          </a:solidFill>
          <a:ln w="12700">
            <a:solidFill>
              <a:srgbClr val="DDDDDD"/>
            </a:solidFill>
            <a:prstDash val="solid"/>
          </a:ln>
        </p:spPr>
      </p:sp>
      <p:sp>
        <p:nvSpPr>
          <p:cNvPr id="9" name="Text 7"/>
          <p:cNvSpPr/>
          <p:nvPr/>
        </p:nvSpPr>
        <p:spPr>
          <a:xfrm>
            <a:off x="457200" y="3108960"/>
            <a:ext cx="8229600" cy="365760"/>
          </a:xfrm>
          <a:prstGeom prst="rect">
            <a:avLst/>
          </a:prstGeom>
          <a:noFill/>
          <a:ln/>
        </p:spPr>
        <p:txBody>
          <a:bodyPr wrap="square"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Sample Output:</a:t>
            </a:r>
            <a:endParaRPr lang="en-US" sz="1300" dirty="0"/>
          </a:p>
        </p:txBody>
      </p:sp>
      <p:sp>
        <p:nvSpPr>
          <p:cNvPr id="10" name="Text 8"/>
          <p:cNvSpPr/>
          <p:nvPr/>
        </p:nvSpPr>
        <p:spPr>
          <a:xfrm>
            <a:off x="457200" y="3520440"/>
            <a:ext cx="8229600" cy="457200"/>
          </a:xfrm>
          <a:prstGeom prst="rect">
            <a:avLst/>
          </a:prstGeom>
          <a:solidFill>
            <a:srgbClr val="F7F7F7"/>
          </a:solidFill>
          <a:ln/>
        </p:spPr>
        <p:txBody>
          <a:bodyPr wrap="square" rtlCol="0" anchor="ctr"/>
          <a:lstStyle/>
          <a:p>
            <a:pPr indent="0" marL="0">
              <a:buNone/>
            </a:pPr>
            <a:r>
              <a:rPr lang="en-US" sz="1200" dirty="0">
                <a:solidFill>
                  <a:srgbClr val="555555"/>
                </a:solidFill>
                <a:latin typeface="Calibri" pitchFamily="34" charset="0"/>
                <a:ea typeface="Calibri" pitchFamily="34" charset="-122"/>
                <a:cs typeface="Calibri" pitchFamily="34" charset="-120"/>
              </a:rPr>
              <a:t>Input: Maharashtra, Mumbai, 2023  →  Murder: 142  |  Rape: 89  |  Theft: 3821  |  Total: 6204  |  Risk: HIGH</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C1121F"/>
          </a:solidFill>
          <a:ln w="12700">
            <a:solidFill>
              <a:srgbClr val="C1121F"/>
            </a:solidFill>
            <a:prstDash val="solid"/>
          </a:ln>
        </p:spPr>
      </p:sp>
      <p:sp>
        <p:nvSpPr>
          <p:cNvPr id="3" name="Text 1"/>
          <p:cNvSpPr/>
          <p:nvPr/>
        </p:nvSpPr>
        <p:spPr>
          <a:xfrm>
            <a:off x="365760" y="91440"/>
            <a:ext cx="82296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Tools &amp; Libraries Used</a:t>
            </a:r>
            <a:endParaRPr lang="en-US" sz="2200" dirty="0"/>
          </a:p>
        </p:txBody>
      </p:sp>
      <p:sp>
        <p:nvSpPr>
          <p:cNvPr id="4" name="Shape 2"/>
          <p:cNvSpPr/>
          <p:nvPr/>
        </p:nvSpPr>
        <p:spPr>
          <a:xfrm>
            <a:off x="365760" y="1005840"/>
            <a:ext cx="2651760" cy="1005840"/>
          </a:xfrm>
          <a:prstGeom prst="rect">
            <a:avLst/>
          </a:prstGeom>
          <a:solidFill>
            <a:srgbClr val="F7F7F7"/>
          </a:solidFill>
          <a:ln w="12700">
            <a:solidFill>
              <a:srgbClr val="DDDDDD"/>
            </a:solidFill>
            <a:prstDash val="solid"/>
          </a:ln>
        </p:spPr>
      </p:sp>
      <p:sp>
        <p:nvSpPr>
          <p:cNvPr id="5" name="Shape 3"/>
          <p:cNvSpPr/>
          <p:nvPr/>
        </p:nvSpPr>
        <p:spPr>
          <a:xfrm>
            <a:off x="365760" y="1005840"/>
            <a:ext cx="64008" cy="1005840"/>
          </a:xfrm>
          <a:prstGeom prst="rect">
            <a:avLst/>
          </a:prstGeom>
          <a:solidFill>
            <a:srgbClr val="C1121F"/>
          </a:solidFill>
          <a:ln w="12700">
            <a:solidFill>
              <a:srgbClr val="C1121F"/>
            </a:solidFill>
            <a:prstDash val="solid"/>
          </a:ln>
        </p:spPr>
      </p:sp>
      <p:sp>
        <p:nvSpPr>
          <p:cNvPr id="6" name="Text 4"/>
          <p:cNvSpPr/>
          <p:nvPr/>
        </p:nvSpPr>
        <p:spPr>
          <a:xfrm>
            <a:off x="548640" y="1280160"/>
            <a:ext cx="2286000" cy="457200"/>
          </a:xfrm>
          <a:prstGeom prst="rect">
            <a:avLst/>
          </a:prstGeom>
          <a:noFill/>
          <a:ln/>
        </p:spPr>
        <p:txBody>
          <a:bodyPr wrap="square"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Python</a:t>
            </a:r>
            <a:endParaRPr lang="en-US" sz="1300" dirty="0"/>
          </a:p>
        </p:txBody>
      </p:sp>
      <p:sp>
        <p:nvSpPr>
          <p:cNvPr id="7" name="Shape 5"/>
          <p:cNvSpPr/>
          <p:nvPr/>
        </p:nvSpPr>
        <p:spPr>
          <a:xfrm>
            <a:off x="3246120" y="1005840"/>
            <a:ext cx="2651760" cy="1005840"/>
          </a:xfrm>
          <a:prstGeom prst="rect">
            <a:avLst/>
          </a:prstGeom>
          <a:solidFill>
            <a:srgbClr val="F7F7F7"/>
          </a:solidFill>
          <a:ln w="12700">
            <a:solidFill>
              <a:srgbClr val="DDDDDD"/>
            </a:solidFill>
            <a:prstDash val="solid"/>
          </a:ln>
        </p:spPr>
      </p:sp>
      <p:sp>
        <p:nvSpPr>
          <p:cNvPr id="8" name="Shape 6"/>
          <p:cNvSpPr/>
          <p:nvPr/>
        </p:nvSpPr>
        <p:spPr>
          <a:xfrm>
            <a:off x="3246120" y="1005840"/>
            <a:ext cx="64008" cy="1005840"/>
          </a:xfrm>
          <a:prstGeom prst="rect">
            <a:avLst/>
          </a:prstGeom>
          <a:solidFill>
            <a:srgbClr val="C1121F"/>
          </a:solidFill>
          <a:ln w="12700">
            <a:solidFill>
              <a:srgbClr val="C1121F"/>
            </a:solidFill>
            <a:prstDash val="solid"/>
          </a:ln>
        </p:spPr>
      </p:sp>
      <p:sp>
        <p:nvSpPr>
          <p:cNvPr id="9" name="Text 7"/>
          <p:cNvSpPr/>
          <p:nvPr/>
        </p:nvSpPr>
        <p:spPr>
          <a:xfrm>
            <a:off x="3429000" y="1280160"/>
            <a:ext cx="2286000" cy="457200"/>
          </a:xfrm>
          <a:prstGeom prst="rect">
            <a:avLst/>
          </a:prstGeom>
          <a:noFill/>
          <a:ln/>
        </p:spPr>
        <p:txBody>
          <a:bodyPr wrap="square"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Pandas</a:t>
            </a:r>
            <a:endParaRPr lang="en-US" sz="1300" dirty="0"/>
          </a:p>
        </p:txBody>
      </p:sp>
      <p:sp>
        <p:nvSpPr>
          <p:cNvPr id="10" name="Shape 8"/>
          <p:cNvSpPr/>
          <p:nvPr/>
        </p:nvSpPr>
        <p:spPr>
          <a:xfrm>
            <a:off x="6126480" y="1005840"/>
            <a:ext cx="2651760" cy="1005840"/>
          </a:xfrm>
          <a:prstGeom prst="rect">
            <a:avLst/>
          </a:prstGeom>
          <a:solidFill>
            <a:srgbClr val="F7F7F7"/>
          </a:solidFill>
          <a:ln w="12700">
            <a:solidFill>
              <a:srgbClr val="DDDDDD"/>
            </a:solidFill>
            <a:prstDash val="solid"/>
          </a:ln>
        </p:spPr>
      </p:sp>
      <p:sp>
        <p:nvSpPr>
          <p:cNvPr id="11" name="Shape 9"/>
          <p:cNvSpPr/>
          <p:nvPr/>
        </p:nvSpPr>
        <p:spPr>
          <a:xfrm>
            <a:off x="6126480" y="1005840"/>
            <a:ext cx="64008" cy="1005840"/>
          </a:xfrm>
          <a:prstGeom prst="rect">
            <a:avLst/>
          </a:prstGeom>
          <a:solidFill>
            <a:srgbClr val="C1121F"/>
          </a:solidFill>
          <a:ln w="12700">
            <a:solidFill>
              <a:srgbClr val="C1121F"/>
            </a:solidFill>
            <a:prstDash val="solid"/>
          </a:ln>
        </p:spPr>
      </p:sp>
      <p:sp>
        <p:nvSpPr>
          <p:cNvPr id="12" name="Text 10"/>
          <p:cNvSpPr/>
          <p:nvPr/>
        </p:nvSpPr>
        <p:spPr>
          <a:xfrm>
            <a:off x="6309360" y="1280160"/>
            <a:ext cx="2286000" cy="457200"/>
          </a:xfrm>
          <a:prstGeom prst="rect">
            <a:avLst/>
          </a:prstGeom>
          <a:noFill/>
          <a:ln/>
        </p:spPr>
        <p:txBody>
          <a:bodyPr wrap="square"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NumPy</a:t>
            </a:r>
            <a:endParaRPr lang="en-US" sz="1300" dirty="0"/>
          </a:p>
        </p:txBody>
      </p:sp>
      <p:sp>
        <p:nvSpPr>
          <p:cNvPr id="13" name="Shape 11"/>
          <p:cNvSpPr/>
          <p:nvPr/>
        </p:nvSpPr>
        <p:spPr>
          <a:xfrm>
            <a:off x="365760" y="2286000"/>
            <a:ext cx="2651760" cy="1005840"/>
          </a:xfrm>
          <a:prstGeom prst="rect">
            <a:avLst/>
          </a:prstGeom>
          <a:solidFill>
            <a:srgbClr val="F7F7F7"/>
          </a:solidFill>
          <a:ln w="12700">
            <a:solidFill>
              <a:srgbClr val="DDDDDD"/>
            </a:solidFill>
            <a:prstDash val="solid"/>
          </a:ln>
        </p:spPr>
      </p:sp>
      <p:sp>
        <p:nvSpPr>
          <p:cNvPr id="14" name="Shape 12"/>
          <p:cNvSpPr/>
          <p:nvPr/>
        </p:nvSpPr>
        <p:spPr>
          <a:xfrm>
            <a:off x="365760" y="2286000"/>
            <a:ext cx="64008" cy="1005840"/>
          </a:xfrm>
          <a:prstGeom prst="rect">
            <a:avLst/>
          </a:prstGeom>
          <a:solidFill>
            <a:srgbClr val="C1121F"/>
          </a:solidFill>
          <a:ln w="12700">
            <a:solidFill>
              <a:srgbClr val="C1121F"/>
            </a:solidFill>
            <a:prstDash val="solid"/>
          </a:ln>
        </p:spPr>
      </p:sp>
      <p:sp>
        <p:nvSpPr>
          <p:cNvPr id="15" name="Text 13"/>
          <p:cNvSpPr/>
          <p:nvPr/>
        </p:nvSpPr>
        <p:spPr>
          <a:xfrm>
            <a:off x="548640" y="2560320"/>
            <a:ext cx="2286000" cy="457200"/>
          </a:xfrm>
          <a:prstGeom prst="rect">
            <a:avLst/>
          </a:prstGeom>
          <a:noFill/>
          <a:ln/>
        </p:spPr>
        <p:txBody>
          <a:bodyPr wrap="square"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Scikit-learn</a:t>
            </a:r>
            <a:endParaRPr lang="en-US" sz="1300" dirty="0"/>
          </a:p>
        </p:txBody>
      </p:sp>
      <p:sp>
        <p:nvSpPr>
          <p:cNvPr id="16" name="Shape 14"/>
          <p:cNvSpPr/>
          <p:nvPr/>
        </p:nvSpPr>
        <p:spPr>
          <a:xfrm>
            <a:off x="3246120" y="2286000"/>
            <a:ext cx="2651760" cy="1005840"/>
          </a:xfrm>
          <a:prstGeom prst="rect">
            <a:avLst/>
          </a:prstGeom>
          <a:solidFill>
            <a:srgbClr val="F7F7F7"/>
          </a:solidFill>
          <a:ln w="12700">
            <a:solidFill>
              <a:srgbClr val="DDDDDD"/>
            </a:solidFill>
            <a:prstDash val="solid"/>
          </a:ln>
        </p:spPr>
      </p:sp>
      <p:sp>
        <p:nvSpPr>
          <p:cNvPr id="17" name="Shape 15"/>
          <p:cNvSpPr/>
          <p:nvPr/>
        </p:nvSpPr>
        <p:spPr>
          <a:xfrm>
            <a:off x="3246120" y="2286000"/>
            <a:ext cx="64008" cy="1005840"/>
          </a:xfrm>
          <a:prstGeom prst="rect">
            <a:avLst/>
          </a:prstGeom>
          <a:solidFill>
            <a:srgbClr val="C1121F"/>
          </a:solidFill>
          <a:ln w="12700">
            <a:solidFill>
              <a:srgbClr val="C1121F"/>
            </a:solidFill>
            <a:prstDash val="solid"/>
          </a:ln>
        </p:spPr>
      </p:sp>
      <p:sp>
        <p:nvSpPr>
          <p:cNvPr id="18" name="Text 16"/>
          <p:cNvSpPr/>
          <p:nvPr/>
        </p:nvSpPr>
        <p:spPr>
          <a:xfrm>
            <a:off x="3429000" y="2560320"/>
            <a:ext cx="2286000" cy="457200"/>
          </a:xfrm>
          <a:prstGeom prst="rect">
            <a:avLst/>
          </a:prstGeom>
          <a:noFill/>
          <a:ln/>
        </p:spPr>
        <p:txBody>
          <a:bodyPr wrap="square"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Matplotlib</a:t>
            </a:r>
            <a:endParaRPr lang="en-US" sz="1300" dirty="0"/>
          </a:p>
        </p:txBody>
      </p:sp>
      <p:sp>
        <p:nvSpPr>
          <p:cNvPr id="19" name="Shape 17"/>
          <p:cNvSpPr/>
          <p:nvPr/>
        </p:nvSpPr>
        <p:spPr>
          <a:xfrm>
            <a:off x="6126480" y="2286000"/>
            <a:ext cx="2651760" cy="1005840"/>
          </a:xfrm>
          <a:prstGeom prst="rect">
            <a:avLst/>
          </a:prstGeom>
          <a:solidFill>
            <a:srgbClr val="F7F7F7"/>
          </a:solidFill>
          <a:ln w="12700">
            <a:solidFill>
              <a:srgbClr val="DDDDDD"/>
            </a:solidFill>
            <a:prstDash val="solid"/>
          </a:ln>
        </p:spPr>
      </p:sp>
      <p:sp>
        <p:nvSpPr>
          <p:cNvPr id="20" name="Shape 18"/>
          <p:cNvSpPr/>
          <p:nvPr/>
        </p:nvSpPr>
        <p:spPr>
          <a:xfrm>
            <a:off x="6126480" y="2286000"/>
            <a:ext cx="64008" cy="1005840"/>
          </a:xfrm>
          <a:prstGeom prst="rect">
            <a:avLst/>
          </a:prstGeom>
          <a:solidFill>
            <a:srgbClr val="C1121F"/>
          </a:solidFill>
          <a:ln w="12700">
            <a:solidFill>
              <a:srgbClr val="C1121F"/>
            </a:solidFill>
            <a:prstDash val="solid"/>
          </a:ln>
        </p:spPr>
      </p:sp>
      <p:sp>
        <p:nvSpPr>
          <p:cNvPr id="21" name="Text 19"/>
          <p:cNvSpPr/>
          <p:nvPr/>
        </p:nvSpPr>
        <p:spPr>
          <a:xfrm>
            <a:off x="6309360" y="2560320"/>
            <a:ext cx="2286000" cy="457200"/>
          </a:xfrm>
          <a:prstGeom prst="rect">
            <a:avLst/>
          </a:prstGeom>
          <a:noFill/>
          <a:ln/>
        </p:spPr>
        <p:txBody>
          <a:bodyPr wrap="square"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Seaborn</a:t>
            </a:r>
            <a:endParaRPr lang="en-US" sz="1300" dirty="0"/>
          </a:p>
        </p:txBody>
      </p:sp>
      <p:sp>
        <p:nvSpPr>
          <p:cNvPr id="22" name="Shape 20"/>
          <p:cNvSpPr/>
          <p:nvPr/>
        </p:nvSpPr>
        <p:spPr>
          <a:xfrm>
            <a:off x="365760" y="3566160"/>
            <a:ext cx="2651760" cy="1005840"/>
          </a:xfrm>
          <a:prstGeom prst="rect">
            <a:avLst/>
          </a:prstGeom>
          <a:solidFill>
            <a:srgbClr val="F7F7F7"/>
          </a:solidFill>
          <a:ln w="12700">
            <a:solidFill>
              <a:srgbClr val="DDDDDD"/>
            </a:solidFill>
            <a:prstDash val="solid"/>
          </a:ln>
        </p:spPr>
      </p:sp>
      <p:sp>
        <p:nvSpPr>
          <p:cNvPr id="23" name="Shape 21"/>
          <p:cNvSpPr/>
          <p:nvPr/>
        </p:nvSpPr>
        <p:spPr>
          <a:xfrm>
            <a:off x="365760" y="3566160"/>
            <a:ext cx="64008" cy="1005840"/>
          </a:xfrm>
          <a:prstGeom prst="rect">
            <a:avLst/>
          </a:prstGeom>
          <a:solidFill>
            <a:srgbClr val="C1121F"/>
          </a:solidFill>
          <a:ln w="12700">
            <a:solidFill>
              <a:srgbClr val="C1121F"/>
            </a:solidFill>
            <a:prstDash val="solid"/>
          </a:ln>
        </p:spPr>
      </p:sp>
      <p:sp>
        <p:nvSpPr>
          <p:cNvPr id="24" name="Text 22"/>
          <p:cNvSpPr/>
          <p:nvPr/>
        </p:nvSpPr>
        <p:spPr>
          <a:xfrm>
            <a:off x="548640" y="3840480"/>
            <a:ext cx="2286000" cy="457200"/>
          </a:xfrm>
          <a:prstGeom prst="rect">
            <a:avLst/>
          </a:prstGeom>
          <a:noFill/>
          <a:ln/>
        </p:spPr>
        <p:txBody>
          <a:bodyPr wrap="square"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Jupyter Notebook</a:t>
            </a:r>
            <a:endParaRPr lang="en-US" sz="1300" dirty="0"/>
          </a:p>
        </p:txBody>
      </p:sp>
      <p:sp>
        <p:nvSpPr>
          <p:cNvPr id="25" name="Shape 23"/>
          <p:cNvSpPr/>
          <p:nvPr/>
        </p:nvSpPr>
        <p:spPr>
          <a:xfrm>
            <a:off x="3246120" y="3566160"/>
            <a:ext cx="2651760" cy="1005840"/>
          </a:xfrm>
          <a:prstGeom prst="rect">
            <a:avLst/>
          </a:prstGeom>
          <a:solidFill>
            <a:srgbClr val="F7F7F7"/>
          </a:solidFill>
          <a:ln w="12700">
            <a:solidFill>
              <a:srgbClr val="DDDDDD"/>
            </a:solidFill>
            <a:prstDash val="solid"/>
          </a:ln>
        </p:spPr>
      </p:sp>
      <p:sp>
        <p:nvSpPr>
          <p:cNvPr id="26" name="Shape 24"/>
          <p:cNvSpPr/>
          <p:nvPr/>
        </p:nvSpPr>
        <p:spPr>
          <a:xfrm>
            <a:off x="3246120" y="3566160"/>
            <a:ext cx="64008" cy="1005840"/>
          </a:xfrm>
          <a:prstGeom prst="rect">
            <a:avLst/>
          </a:prstGeom>
          <a:solidFill>
            <a:srgbClr val="C1121F"/>
          </a:solidFill>
          <a:ln w="12700">
            <a:solidFill>
              <a:srgbClr val="C1121F"/>
            </a:solidFill>
            <a:prstDash val="solid"/>
          </a:ln>
        </p:spPr>
      </p:sp>
      <p:sp>
        <p:nvSpPr>
          <p:cNvPr id="27" name="Text 25"/>
          <p:cNvSpPr/>
          <p:nvPr/>
        </p:nvSpPr>
        <p:spPr>
          <a:xfrm>
            <a:off x="3429000" y="3840480"/>
            <a:ext cx="2286000" cy="457200"/>
          </a:xfrm>
          <a:prstGeom prst="rect">
            <a:avLst/>
          </a:prstGeom>
          <a:noFill/>
          <a:ln/>
        </p:spPr>
        <p:txBody>
          <a:bodyPr wrap="square"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VS Code</a:t>
            </a:r>
            <a:endParaRPr lang="en-US" sz="1300" dirty="0"/>
          </a:p>
        </p:txBody>
      </p:sp>
      <p:sp>
        <p:nvSpPr>
          <p:cNvPr id="28" name="Shape 26"/>
          <p:cNvSpPr/>
          <p:nvPr/>
        </p:nvSpPr>
        <p:spPr>
          <a:xfrm>
            <a:off x="6126480" y="3566160"/>
            <a:ext cx="2651760" cy="1005840"/>
          </a:xfrm>
          <a:prstGeom prst="rect">
            <a:avLst/>
          </a:prstGeom>
          <a:solidFill>
            <a:srgbClr val="F7F7F7"/>
          </a:solidFill>
          <a:ln w="12700">
            <a:solidFill>
              <a:srgbClr val="DDDDDD"/>
            </a:solidFill>
            <a:prstDash val="solid"/>
          </a:ln>
        </p:spPr>
      </p:sp>
      <p:sp>
        <p:nvSpPr>
          <p:cNvPr id="29" name="Shape 27"/>
          <p:cNvSpPr/>
          <p:nvPr/>
        </p:nvSpPr>
        <p:spPr>
          <a:xfrm>
            <a:off x="6126480" y="3566160"/>
            <a:ext cx="64008" cy="1005840"/>
          </a:xfrm>
          <a:prstGeom prst="rect">
            <a:avLst/>
          </a:prstGeom>
          <a:solidFill>
            <a:srgbClr val="C1121F"/>
          </a:solidFill>
          <a:ln w="12700">
            <a:solidFill>
              <a:srgbClr val="C1121F"/>
            </a:solidFill>
            <a:prstDash val="solid"/>
          </a:ln>
        </p:spPr>
      </p:sp>
      <p:sp>
        <p:nvSpPr>
          <p:cNvPr id="30" name="Text 28"/>
          <p:cNvSpPr/>
          <p:nvPr/>
        </p:nvSpPr>
        <p:spPr>
          <a:xfrm>
            <a:off x="6309360" y="3840480"/>
            <a:ext cx="2286000" cy="457200"/>
          </a:xfrm>
          <a:prstGeom prst="rect">
            <a:avLst/>
          </a:prstGeom>
          <a:noFill/>
          <a:ln/>
        </p:spPr>
        <p:txBody>
          <a:bodyPr wrap="square"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Anaconda</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C1121F"/>
        </a:solidFill>
      </p:bgPr>
    </p:bg>
    <p:spTree>
      <p:nvGrpSpPr>
        <p:cNvPr id="1" name=""/>
        <p:cNvGrpSpPr/>
        <p:nvPr/>
      </p:nvGrpSpPr>
      <p:grpSpPr>
        <a:xfrm>
          <a:off x="0" y="0"/>
          <a:ext cx="0" cy="0"/>
          <a:chOff x="0" y="0"/>
          <a:chExt cx="0" cy="0"/>
        </a:xfrm>
      </p:grpSpPr>
      <p:sp>
        <p:nvSpPr>
          <p:cNvPr id="2" name="Text 0"/>
          <p:cNvSpPr/>
          <p:nvPr/>
        </p:nvSpPr>
        <p:spPr>
          <a:xfrm>
            <a:off x="548640" y="731520"/>
            <a:ext cx="8046720" cy="822960"/>
          </a:xfrm>
          <a:prstGeom prst="rect">
            <a:avLst/>
          </a:prstGeom>
          <a:noFill/>
          <a:ln/>
        </p:spPr>
        <p:txBody>
          <a:bodyPr wrap="square"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Conclusion</a:t>
            </a:r>
            <a:endParaRPr lang="en-US" sz="3800" dirty="0"/>
          </a:p>
        </p:txBody>
      </p:sp>
      <p:sp>
        <p:nvSpPr>
          <p:cNvPr id="3" name="Shape 1"/>
          <p:cNvSpPr/>
          <p:nvPr/>
        </p:nvSpPr>
        <p:spPr>
          <a:xfrm>
            <a:off x="548640" y="1600200"/>
            <a:ext cx="2743200" cy="45720"/>
          </a:xfrm>
          <a:prstGeom prst="rect">
            <a:avLst/>
          </a:prstGeom>
          <a:solidFill>
            <a:srgbClr val="FFFFFF"/>
          </a:solidFill>
          <a:ln w="12700">
            <a:solidFill>
              <a:srgbClr val="FFFFFF"/>
            </a:solidFill>
            <a:prstDash val="solid"/>
          </a:ln>
        </p:spPr>
      </p:sp>
      <p:sp>
        <p:nvSpPr>
          <p:cNvPr id="4" name="Shape 2"/>
          <p:cNvSpPr/>
          <p:nvPr/>
        </p:nvSpPr>
        <p:spPr>
          <a:xfrm>
            <a:off x="548640" y="1920240"/>
            <a:ext cx="64008" cy="411480"/>
          </a:xfrm>
          <a:prstGeom prst="rect">
            <a:avLst/>
          </a:prstGeom>
          <a:solidFill>
            <a:srgbClr val="FFFFFF"/>
          </a:solidFill>
          <a:ln w="12700">
            <a:solidFill>
              <a:srgbClr val="FFFFFF"/>
            </a:solidFill>
            <a:prstDash val="solid"/>
          </a:ln>
        </p:spPr>
      </p:sp>
      <p:sp>
        <p:nvSpPr>
          <p:cNvPr id="5" name="Text 3"/>
          <p:cNvSpPr/>
          <p:nvPr/>
        </p:nvSpPr>
        <p:spPr>
          <a:xfrm>
            <a:off x="868680" y="1901952"/>
            <a:ext cx="7772400" cy="4114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We analyzed 9 years of Indian crime data and successfully built a working prediction system.</a:t>
            </a:r>
            <a:endParaRPr lang="en-US" sz="1300" dirty="0"/>
          </a:p>
        </p:txBody>
      </p:sp>
      <p:sp>
        <p:nvSpPr>
          <p:cNvPr id="6" name="Shape 4"/>
          <p:cNvSpPr/>
          <p:nvPr/>
        </p:nvSpPr>
        <p:spPr>
          <a:xfrm>
            <a:off x="548640" y="2670048"/>
            <a:ext cx="64008" cy="411480"/>
          </a:xfrm>
          <a:prstGeom prst="rect">
            <a:avLst/>
          </a:prstGeom>
          <a:solidFill>
            <a:srgbClr val="FFFFFF"/>
          </a:solidFill>
          <a:ln w="12700">
            <a:solidFill>
              <a:srgbClr val="FFFFFF"/>
            </a:solidFill>
            <a:prstDash val="solid"/>
          </a:ln>
        </p:spPr>
      </p:sp>
      <p:sp>
        <p:nvSpPr>
          <p:cNvPr id="7" name="Text 5"/>
          <p:cNvSpPr/>
          <p:nvPr/>
        </p:nvSpPr>
        <p:spPr>
          <a:xfrm>
            <a:off x="868680" y="2651760"/>
            <a:ext cx="7772400" cy="4114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K-Means correctly identified Low, Medium, and High crime hotspots across states.</a:t>
            </a:r>
            <a:endParaRPr lang="en-US" sz="1300" dirty="0"/>
          </a:p>
        </p:txBody>
      </p:sp>
      <p:sp>
        <p:nvSpPr>
          <p:cNvPr id="8" name="Shape 6"/>
          <p:cNvSpPr/>
          <p:nvPr/>
        </p:nvSpPr>
        <p:spPr>
          <a:xfrm>
            <a:off x="548640" y="3419856"/>
            <a:ext cx="64008" cy="411480"/>
          </a:xfrm>
          <a:prstGeom prst="rect">
            <a:avLst/>
          </a:prstGeom>
          <a:solidFill>
            <a:srgbClr val="FFFFFF"/>
          </a:solidFill>
          <a:ln w="12700">
            <a:solidFill>
              <a:srgbClr val="FFFFFF"/>
            </a:solidFill>
            <a:prstDash val="solid"/>
          </a:ln>
        </p:spPr>
      </p:sp>
      <p:sp>
        <p:nvSpPr>
          <p:cNvPr id="9" name="Text 7"/>
          <p:cNvSpPr/>
          <p:nvPr/>
        </p:nvSpPr>
        <p:spPr>
          <a:xfrm>
            <a:off x="868680" y="3401568"/>
            <a:ext cx="7772400" cy="4114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Random Forest predicted crime counts with 88.89% accuracy.</a:t>
            </a:r>
            <a:endParaRPr lang="en-US" sz="1300" dirty="0"/>
          </a:p>
        </p:txBody>
      </p:sp>
      <p:sp>
        <p:nvSpPr>
          <p:cNvPr id="10" name="Shape 8"/>
          <p:cNvSpPr/>
          <p:nvPr/>
        </p:nvSpPr>
        <p:spPr>
          <a:xfrm>
            <a:off x="548640" y="4169664"/>
            <a:ext cx="64008" cy="411480"/>
          </a:xfrm>
          <a:prstGeom prst="rect">
            <a:avLst/>
          </a:prstGeom>
          <a:solidFill>
            <a:srgbClr val="FFFFFF"/>
          </a:solidFill>
          <a:ln w="12700">
            <a:solidFill>
              <a:srgbClr val="FFFFFF"/>
            </a:solidFill>
            <a:prstDash val="solid"/>
          </a:ln>
        </p:spPr>
      </p:sp>
      <p:sp>
        <p:nvSpPr>
          <p:cNvPr id="11" name="Text 9"/>
          <p:cNvSpPr/>
          <p:nvPr/>
        </p:nvSpPr>
        <p:spPr>
          <a:xfrm>
            <a:off x="868680" y="4151376"/>
            <a:ext cx="7772400" cy="4114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This kind of system can genuinely help law enforcement plan and prevent crimes.</a:t>
            </a:r>
            <a:endParaRPr lang="en-US" sz="1300" dirty="0"/>
          </a:p>
        </p:txBody>
      </p:sp>
      <p:sp>
        <p:nvSpPr>
          <p:cNvPr id="12" name="Text 10"/>
          <p:cNvSpPr/>
          <p:nvPr/>
        </p:nvSpPr>
        <p:spPr>
          <a:xfrm>
            <a:off x="548640" y="4663440"/>
            <a:ext cx="8229600" cy="320040"/>
          </a:xfrm>
          <a:prstGeom prst="rect">
            <a:avLst/>
          </a:prstGeom>
          <a:noFill/>
          <a:ln/>
        </p:spPr>
        <p:txBody>
          <a:bodyPr wrap="square" rtlCol="0" anchor="ctr"/>
          <a:lstStyle/>
          <a:p>
            <a:pPr indent="0" marL="0">
              <a:buNone/>
            </a:pPr>
            <a:r>
              <a:rPr lang="en-US" sz="1400" i="1" dirty="0">
                <a:solidFill>
                  <a:srgbClr val="FFFFFF"/>
                </a:solidFill>
                <a:latin typeface="Calibri" pitchFamily="34" charset="0"/>
                <a:ea typeface="Calibri" pitchFamily="34" charset="-122"/>
                <a:cs typeface="Calibri" pitchFamily="34" charset="-120"/>
              </a:rPr>
              <a:t>Thank You</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2026-04-10T16:02:23Z</dcterms:created>
  <dcterms:modified xsi:type="dcterms:W3CDTF">2026-04-10T16:02:23Z</dcterms:modified>
</cp:coreProperties>
</file>